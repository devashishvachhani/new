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7d6d70c23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7d6d70c23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 name="Shape 65"/>
        <p:cNvGrpSpPr/>
        <p:nvPr/>
      </p:nvGrpSpPr>
      <p:grpSpPr>
        <a:xfrm>
          <a:off x="0" y="0"/>
          <a:ext cx="0" cy="0"/>
          <a:chOff x="0" y="0"/>
          <a:chExt cx="0" cy="0"/>
        </a:xfrm>
      </p:grpSpPr>
      <p:sp>
        <p:nvSpPr>
          <p:cNvPr id="66" name="Google Shape;66;g7d6d70c23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7d6d70c23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 name="Shape 73"/>
        <p:cNvGrpSpPr/>
        <p:nvPr/>
      </p:nvGrpSpPr>
      <p:grpSpPr>
        <a:xfrm>
          <a:off x="0" y="0"/>
          <a:ext cx="0" cy="0"/>
          <a:chOff x="0" y="0"/>
          <a:chExt cx="0" cy="0"/>
        </a:xfrm>
      </p:grpSpPr>
      <p:sp>
        <p:nvSpPr>
          <p:cNvPr id="74" name="Google Shape;74;g7d6d70c23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7d6d70c23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 name="Shape 79"/>
        <p:cNvGrpSpPr/>
        <p:nvPr/>
      </p:nvGrpSpPr>
      <p:grpSpPr>
        <a:xfrm>
          <a:off x="0" y="0"/>
          <a:ext cx="0" cy="0"/>
          <a:chOff x="0" y="0"/>
          <a:chExt cx="0" cy="0"/>
        </a:xfrm>
      </p:grpSpPr>
      <p:sp>
        <p:nvSpPr>
          <p:cNvPr id="80" name="Google Shape;80;g7d6d70c23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7d6d70c23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5" name="Shape 85"/>
        <p:cNvGrpSpPr/>
        <p:nvPr/>
      </p:nvGrpSpPr>
      <p:grpSpPr>
        <a:xfrm>
          <a:off x="0" y="0"/>
          <a:ext cx="0" cy="0"/>
          <a:chOff x="0" y="0"/>
          <a:chExt cx="0" cy="0"/>
        </a:xfrm>
      </p:grpSpPr>
      <p:sp>
        <p:nvSpPr>
          <p:cNvPr id="86" name="Google Shape;86;g7d6d70c23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7d6d70c23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g7d6d70c23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7d6d70c23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 name="Shape 96"/>
        <p:cNvGrpSpPr/>
        <p:nvPr/>
      </p:nvGrpSpPr>
      <p:grpSpPr>
        <a:xfrm>
          <a:off x="0" y="0"/>
          <a:ext cx="0" cy="0"/>
          <a:chOff x="0" y="0"/>
          <a:chExt cx="0" cy="0"/>
        </a:xfrm>
      </p:grpSpPr>
      <p:sp>
        <p:nvSpPr>
          <p:cNvPr id="97" name="Google Shape;97;g7d6d70c23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7d6d70c23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Google Shape;102;g7d6d70c23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7d6d70c23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7d6d70c23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d6d70c23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g7d6d70c23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7d6d70c23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g7d6d70c23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7d6d70c23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 name="Shape 123"/>
        <p:cNvGrpSpPr/>
        <p:nvPr/>
      </p:nvGrpSpPr>
      <p:grpSpPr>
        <a:xfrm>
          <a:off x="0" y="0"/>
          <a:ext cx="0" cy="0"/>
          <a:chOff x="0" y="0"/>
          <a:chExt cx="0" cy="0"/>
        </a:xfrm>
      </p:grpSpPr>
      <p:sp>
        <p:nvSpPr>
          <p:cNvPr id="124" name="Google Shape;124;g7d6d70c23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7d6d70c23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7d6d70c23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7d6d70c23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youtube.com/watch?v=ZwbkRyopBEQ" TargetMode="External"/><Relationship Id="rId4" Type="http://schemas.openxmlformats.org/officeDocument/2006/relationships/hyperlink" Target="https://www.youtube.com/watch?v=ZwbkRyopBEQ"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Karl_Popper" TargetMode="External"/><Relationship Id="rId4" Type="http://schemas.openxmlformats.org/officeDocument/2006/relationships/hyperlink" Target="https://en.wikipedia.org/wiki/Thomas_S._Kuhn" TargetMode="External"/><Relationship Id="rId10" Type="http://schemas.openxmlformats.org/officeDocument/2006/relationships/hyperlink" Target="https://en.wikipedia.org/wiki/Extraordinary_science" TargetMode="External"/><Relationship Id="rId9" Type="http://schemas.openxmlformats.org/officeDocument/2006/relationships/hyperlink" Target="https://en.wikipedia.org/wiki/Normal_science" TargetMode="External"/><Relationship Id="rId5" Type="http://schemas.openxmlformats.org/officeDocument/2006/relationships/hyperlink" Target="https://en.wikipedia.org/wiki/Thomas_Kuhn" TargetMode="External"/><Relationship Id="rId6" Type="http://schemas.openxmlformats.org/officeDocument/2006/relationships/hyperlink" Target="https://en.wikipedia.org/wiki/Postpositivism" TargetMode="External"/><Relationship Id="rId7" Type="http://schemas.openxmlformats.org/officeDocument/2006/relationships/hyperlink" Target="https://en.wikipedia.org/wiki/Postempiricism" TargetMode="External"/><Relationship Id="rId8" Type="http://schemas.openxmlformats.org/officeDocument/2006/relationships/hyperlink" Target="https://en.wikipedia.org/wiki/The_Structure_of_Scientific_Revolution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merriam-webster.com/dictionary/paradigm%20shift?utm_campaign=sd&amp;utm_medium=serp&amp;utm_source=jsonl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34475"/>
            <a:ext cx="8520600" cy="952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Popper vs Kuhn</a:t>
            </a:r>
            <a:endParaRPr/>
          </a:p>
        </p:txBody>
      </p:sp>
      <p:sp>
        <p:nvSpPr>
          <p:cNvPr id="55" name="Google Shape;55;p13"/>
          <p:cNvSpPr txBox="1"/>
          <p:nvPr/>
        </p:nvSpPr>
        <p:spPr>
          <a:xfrm>
            <a:off x="1131800" y="907650"/>
            <a:ext cx="7160400" cy="18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t>            </a:t>
            </a:r>
            <a:r>
              <a:rPr lang="en" sz="3600"/>
              <a:t>Is there a debate?</a:t>
            </a:r>
            <a:endParaRPr sz="3600"/>
          </a:p>
        </p:txBody>
      </p:sp>
      <p:pic>
        <p:nvPicPr>
          <p:cNvPr id="56" name="Google Shape;56;p13"/>
          <p:cNvPicPr preferRelativeResize="0"/>
          <p:nvPr/>
        </p:nvPicPr>
        <p:blipFill>
          <a:blip r:embed="rId3">
            <a:alphaModFix/>
          </a:blip>
          <a:stretch>
            <a:fillRect/>
          </a:stretch>
        </p:blipFill>
        <p:spPr>
          <a:xfrm>
            <a:off x="1023025" y="2039475"/>
            <a:ext cx="7377950" cy="2951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Sir Karl Popper</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Professor of Logic and Scientific Method</a:t>
            </a:r>
            <a:endParaRPr>
              <a:solidFill>
                <a:srgbClr val="000000"/>
              </a:solidFill>
            </a:endParaRPr>
          </a:p>
          <a:p>
            <a:pPr indent="0" lvl="0" marL="0" rtl="0" algn="l">
              <a:spcBef>
                <a:spcPts val="1600"/>
              </a:spcBef>
              <a:spcAft>
                <a:spcPts val="0"/>
              </a:spcAft>
              <a:buNone/>
            </a:pPr>
            <a:r>
              <a:rPr lang="en">
                <a:solidFill>
                  <a:srgbClr val="000000"/>
                </a:solidFill>
              </a:rPr>
              <a:t>London School of Economics</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1600"/>
              </a:spcAft>
              <a:buNone/>
            </a:pPr>
            <a:r>
              <a:t/>
            </a:r>
            <a:endParaRPr>
              <a:solidFill>
                <a:srgbClr val="000000"/>
              </a:solidFill>
            </a:endParaRPr>
          </a:p>
        </p:txBody>
      </p:sp>
      <p:pic>
        <p:nvPicPr>
          <p:cNvPr id="63" name="Google Shape;63;p14"/>
          <p:cNvPicPr preferRelativeResize="0"/>
          <p:nvPr/>
        </p:nvPicPr>
        <p:blipFill>
          <a:blip r:embed="rId3">
            <a:alphaModFix/>
          </a:blip>
          <a:stretch>
            <a:fillRect/>
          </a:stretch>
        </p:blipFill>
        <p:spPr>
          <a:xfrm>
            <a:off x="5199410" y="0"/>
            <a:ext cx="4011930" cy="5143500"/>
          </a:xfrm>
          <a:prstGeom prst="rect">
            <a:avLst/>
          </a:prstGeom>
          <a:noFill/>
          <a:ln>
            <a:noFill/>
          </a:ln>
        </p:spPr>
      </p:pic>
      <p:sp>
        <p:nvSpPr>
          <p:cNvPr id="64" name="Google Shape;64;p14"/>
          <p:cNvSpPr txBox="1"/>
          <p:nvPr/>
        </p:nvSpPr>
        <p:spPr>
          <a:xfrm>
            <a:off x="3608300" y="3843625"/>
            <a:ext cx="1434300" cy="4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1902-1994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Thomas Kuhn</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Professor of History of Science</a:t>
            </a:r>
            <a:endParaRPr>
              <a:solidFill>
                <a:srgbClr val="000000"/>
              </a:solidFill>
            </a:endParaRPr>
          </a:p>
          <a:p>
            <a:pPr indent="0" lvl="0" marL="0" rtl="0" algn="l">
              <a:spcBef>
                <a:spcPts val="1600"/>
              </a:spcBef>
              <a:spcAft>
                <a:spcPts val="1600"/>
              </a:spcAft>
              <a:buNone/>
            </a:pPr>
            <a:r>
              <a:rPr lang="en">
                <a:solidFill>
                  <a:srgbClr val="000000"/>
                </a:solidFill>
              </a:rPr>
              <a:t>University of California, Berkeley</a:t>
            </a:r>
            <a:endParaRPr>
              <a:solidFill>
                <a:srgbClr val="000000"/>
              </a:solidFill>
            </a:endParaRPr>
          </a:p>
        </p:txBody>
      </p:sp>
      <p:pic>
        <p:nvPicPr>
          <p:cNvPr id="71" name="Google Shape;71;p15"/>
          <p:cNvPicPr preferRelativeResize="0"/>
          <p:nvPr/>
        </p:nvPicPr>
        <p:blipFill>
          <a:blip r:embed="rId3">
            <a:alphaModFix/>
          </a:blip>
          <a:stretch>
            <a:fillRect/>
          </a:stretch>
        </p:blipFill>
        <p:spPr>
          <a:xfrm>
            <a:off x="4975400" y="367000"/>
            <a:ext cx="3692350" cy="4272250"/>
          </a:xfrm>
          <a:prstGeom prst="rect">
            <a:avLst/>
          </a:prstGeom>
          <a:noFill/>
          <a:ln>
            <a:noFill/>
          </a:ln>
        </p:spPr>
      </p:pic>
      <p:sp>
        <p:nvSpPr>
          <p:cNvPr id="72" name="Google Shape;72;p15"/>
          <p:cNvSpPr txBox="1"/>
          <p:nvPr/>
        </p:nvSpPr>
        <p:spPr>
          <a:xfrm>
            <a:off x="3417800" y="3541050"/>
            <a:ext cx="14007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1922-1996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 of Demarcation</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222222"/>
                </a:solidFill>
              </a:rPr>
              <a:t>The demarcation problem in the philosophy of science and epistemology is about how to distinguish between science and non-science, including between science, pseudoscience, and other products of human activity, like art and literature, and beliefs.</a:t>
            </a:r>
            <a:endParaRPr/>
          </a:p>
          <a:p>
            <a:pPr indent="0" lvl="0" marL="0" rtl="0" algn="l">
              <a:spcBef>
                <a:spcPts val="1600"/>
              </a:spcBef>
              <a:spcAft>
                <a:spcPts val="0"/>
              </a:spcAft>
              <a:buNone/>
            </a:pPr>
            <a:r>
              <a:rPr lang="en" sz="1400">
                <a:solidFill>
                  <a:srgbClr val="222222"/>
                </a:solidFill>
              </a:rPr>
              <a:t>"The problem of finding a criterion which would enable us to distinguish between the empirical sciences on the one hand, and mathematics and logic as well as 'metaphysical' systems on the other, I call the </a:t>
            </a:r>
            <a:r>
              <a:rPr i="1" lang="en" sz="1400">
                <a:solidFill>
                  <a:srgbClr val="222222"/>
                </a:solidFill>
              </a:rPr>
              <a:t>problem of demarcation</a:t>
            </a:r>
            <a:r>
              <a:rPr lang="en" sz="1400">
                <a:solidFill>
                  <a:srgbClr val="222222"/>
                </a:solidFill>
              </a:rPr>
              <a:t>." - Karl Popper</a:t>
            </a:r>
            <a:endParaRPr sz="1400"/>
          </a:p>
          <a:p>
            <a:pPr indent="0" lvl="0" marL="0" rtl="0" algn="l">
              <a:spcBef>
                <a:spcPts val="1600"/>
              </a:spcBef>
              <a:spcAft>
                <a:spcPts val="1600"/>
              </a:spcAft>
              <a:buNone/>
            </a:pPr>
            <a:r>
              <a:rPr lang="en" u="sng">
                <a:solidFill>
                  <a:schemeClr val="hlink"/>
                </a:solidFill>
                <a:hlinkClick r:id="rId3"/>
              </a:rPr>
              <a:t>h</a:t>
            </a:r>
            <a:r>
              <a:rPr lang="en" u="sng">
                <a:solidFill>
                  <a:schemeClr val="hlink"/>
                </a:solidFill>
                <a:hlinkClick r:id="rId4"/>
              </a:rPr>
              <a:t>ttps://www.youtube.com/watch?v=ZwbkRyopBEQ</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purpose of demarcation</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A1A1A"/>
                </a:solidFill>
                <a:latin typeface="Times New Roman"/>
                <a:ea typeface="Times New Roman"/>
                <a:cs typeface="Times New Roman"/>
                <a:sym typeface="Times New Roman"/>
              </a:rPr>
              <a:t>From a practical point of view, the distinction is important for decision guidance in both private and public life. Since science is our most reliable source of knowledge in a wide variety of areas, we need to distinguish scientific knowledge from its look-alikes. Due to the high status of science in present-day society, attempts to exaggerate the scientific status of various claims, teachings, and products are common enough to make the demarcation issue pressing in many areas.</a:t>
            </a:r>
            <a:endParaRPr>
              <a:solidFill>
                <a:srgbClr val="1A1A1A"/>
              </a:solidFill>
              <a:latin typeface="Times New Roman"/>
              <a:ea typeface="Times New Roman"/>
              <a:cs typeface="Times New Roman"/>
              <a:sym typeface="Times New Roman"/>
            </a:endParaRPr>
          </a:p>
          <a:p>
            <a:pPr indent="0" lvl="0" marL="0" rtl="0" algn="l">
              <a:spcBef>
                <a:spcPts val="1600"/>
              </a:spcBef>
              <a:spcAft>
                <a:spcPts val="0"/>
              </a:spcAft>
              <a:buNone/>
            </a:pPr>
            <a:r>
              <a:t/>
            </a:r>
            <a:endParaRPr>
              <a:solidFill>
                <a:srgbClr val="1A1A1A"/>
              </a:solidFill>
              <a:latin typeface="Times New Roman"/>
              <a:ea typeface="Times New Roman"/>
              <a:cs typeface="Times New Roman"/>
              <a:sym typeface="Times New Roman"/>
            </a:endParaRPr>
          </a:p>
          <a:p>
            <a:pPr indent="0" lvl="0" marL="0" rtl="0" algn="l">
              <a:spcBef>
                <a:spcPts val="1600"/>
              </a:spcBef>
              <a:spcAft>
                <a:spcPts val="1600"/>
              </a:spcAft>
              <a:buNone/>
            </a:pPr>
            <a:r>
              <a:rPr lang="en">
                <a:solidFill>
                  <a:srgbClr val="1A1A1A"/>
                </a:solidFill>
                <a:latin typeface="Times New Roman"/>
                <a:ea typeface="Times New Roman"/>
                <a:cs typeface="Times New Roman"/>
                <a:sym typeface="Times New Roman"/>
              </a:rPr>
              <a:t>Further we will show some examples.</a:t>
            </a:r>
            <a:endParaRPr>
              <a:solidFill>
                <a:srgbClr val="1A1A1A"/>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88" name="Shape 88"/>
        <p:cNvGrpSpPr/>
        <p:nvPr/>
      </p:nvGrpSpPr>
      <p:grpSpPr>
        <a:xfrm>
          <a:off x="0" y="0"/>
          <a:ext cx="0" cy="0"/>
          <a:chOff x="0" y="0"/>
          <a:chExt cx="0" cy="0"/>
        </a:xfrm>
      </p:grpSpPr>
      <p:sp>
        <p:nvSpPr>
          <p:cNvPr id="89" name="Google Shape;89;p18"/>
          <p:cNvSpPr txBox="1"/>
          <p:nvPr>
            <p:ph idx="1" type="body"/>
          </p:nvPr>
        </p:nvSpPr>
        <p:spPr>
          <a:xfrm>
            <a:off x="311700" y="0"/>
            <a:ext cx="8520600" cy="4569000"/>
          </a:xfrm>
          <a:prstGeom prst="rect">
            <a:avLst/>
          </a:prstGeom>
        </p:spPr>
        <p:txBody>
          <a:bodyPr anchorCtr="0" anchor="t" bIns="91425" lIns="91425" spcFirstLastPara="1" rIns="91425" wrap="square" tIns="91425">
            <a:noAutofit/>
          </a:bodyPr>
          <a:lstStyle/>
          <a:p>
            <a:pPr indent="-317500" lvl="0" marL="457200" rtl="0" algn="l">
              <a:lnSpc>
                <a:spcPct val="120000"/>
              </a:lnSpc>
              <a:spcBef>
                <a:spcPts val="600"/>
              </a:spcBef>
              <a:spcAft>
                <a:spcPts val="0"/>
              </a:spcAft>
              <a:buClr>
                <a:srgbClr val="1A1A1A"/>
              </a:buClr>
              <a:buSzPts val="1400"/>
              <a:buFont typeface="Times New Roman"/>
              <a:buChar char="●"/>
            </a:pPr>
            <a:r>
              <a:rPr i="1" lang="en" sz="1400">
                <a:solidFill>
                  <a:srgbClr val="1A1A1A"/>
                </a:solidFill>
                <a:latin typeface="Times New Roman"/>
                <a:ea typeface="Times New Roman"/>
                <a:cs typeface="Times New Roman"/>
                <a:sym typeface="Times New Roman"/>
              </a:rPr>
              <a:t>Healthcare</a:t>
            </a:r>
            <a:r>
              <a:rPr lang="en" sz="1400">
                <a:solidFill>
                  <a:srgbClr val="1A1A1A"/>
                </a:solidFill>
                <a:latin typeface="Times New Roman"/>
                <a:ea typeface="Times New Roman"/>
                <a:cs typeface="Times New Roman"/>
                <a:sym typeface="Times New Roman"/>
              </a:rPr>
              <a:t>: Medical science develops and evaluates treatments according to evidence of their effectiveness. Pseudoscientific activities in this area give rise to ineffective and sometimes dangerous interventions. Healthcare providers, insurers, government authorities and – most importantly – patients need guidance on how to distinguish between medical science and medical pseudoscience.</a:t>
            </a:r>
            <a:endParaRPr sz="1400">
              <a:solidFill>
                <a:srgbClr val="1A1A1A"/>
              </a:solidFill>
              <a:latin typeface="Times New Roman"/>
              <a:ea typeface="Times New Roman"/>
              <a:cs typeface="Times New Roman"/>
              <a:sym typeface="Times New Roman"/>
            </a:endParaRPr>
          </a:p>
          <a:p>
            <a:pPr indent="0" lvl="0" marL="457200" rtl="0" algn="l">
              <a:lnSpc>
                <a:spcPct val="120000"/>
              </a:lnSpc>
              <a:spcBef>
                <a:spcPts val="1800"/>
              </a:spcBef>
              <a:spcAft>
                <a:spcPts val="0"/>
              </a:spcAft>
              <a:buNone/>
            </a:pPr>
            <a:r>
              <a:t/>
            </a:r>
            <a:endParaRPr sz="1400">
              <a:solidFill>
                <a:srgbClr val="1A1A1A"/>
              </a:solidFill>
              <a:latin typeface="Times New Roman"/>
              <a:ea typeface="Times New Roman"/>
              <a:cs typeface="Times New Roman"/>
              <a:sym typeface="Times New Roman"/>
            </a:endParaRPr>
          </a:p>
          <a:p>
            <a:pPr indent="-317500" lvl="0" marL="457200" rtl="0" algn="l">
              <a:lnSpc>
                <a:spcPct val="120000"/>
              </a:lnSpc>
              <a:spcBef>
                <a:spcPts val="1800"/>
              </a:spcBef>
              <a:spcAft>
                <a:spcPts val="0"/>
              </a:spcAft>
              <a:buClr>
                <a:srgbClr val="1A1A1A"/>
              </a:buClr>
              <a:buSzPts val="1400"/>
              <a:buFont typeface="Times New Roman"/>
              <a:buChar char="●"/>
            </a:pPr>
            <a:r>
              <a:rPr i="1" lang="en" sz="1400">
                <a:solidFill>
                  <a:srgbClr val="1A1A1A"/>
                </a:solidFill>
                <a:latin typeface="Times New Roman"/>
                <a:ea typeface="Times New Roman"/>
                <a:cs typeface="Times New Roman"/>
                <a:sym typeface="Times New Roman"/>
              </a:rPr>
              <a:t>Expert testimony</a:t>
            </a:r>
            <a:r>
              <a:rPr lang="en" sz="1400">
                <a:solidFill>
                  <a:srgbClr val="1A1A1A"/>
                </a:solidFill>
                <a:latin typeface="Times New Roman"/>
                <a:ea typeface="Times New Roman"/>
                <a:cs typeface="Times New Roman"/>
                <a:sym typeface="Times New Roman"/>
              </a:rPr>
              <a:t>: It is essential for the rule of law that courts get the facts right. The reliability of different types of evidence must be correctly determined, and expert testimony must be based on the best available knowledge. Sometimes it is in the interest of litigants to present non-scientific claims as solid science. Therefore courts must be able to distinguish between science and pseudoscience. Philosophers have often had prominent roles in the defence of science against pseudoscience in such contexts. </a:t>
            </a:r>
            <a:endParaRPr sz="1400">
              <a:solidFill>
                <a:srgbClr val="1A1A1A"/>
              </a:solidFill>
              <a:latin typeface="Times New Roman"/>
              <a:ea typeface="Times New Roman"/>
              <a:cs typeface="Times New Roman"/>
              <a:sym typeface="Times New Roman"/>
            </a:endParaRPr>
          </a:p>
          <a:p>
            <a:pPr indent="0" lvl="0" marL="457200" rtl="0" algn="l">
              <a:lnSpc>
                <a:spcPct val="120000"/>
              </a:lnSpc>
              <a:spcBef>
                <a:spcPts val="1800"/>
              </a:spcBef>
              <a:spcAft>
                <a:spcPts val="0"/>
              </a:spcAft>
              <a:buNone/>
            </a:pPr>
            <a:r>
              <a:t/>
            </a:r>
            <a:endParaRPr sz="1400">
              <a:solidFill>
                <a:srgbClr val="1A1A1A"/>
              </a:solidFill>
              <a:latin typeface="Times New Roman"/>
              <a:ea typeface="Times New Roman"/>
              <a:cs typeface="Times New Roman"/>
              <a:sym typeface="Times New Roman"/>
            </a:endParaRPr>
          </a:p>
          <a:p>
            <a:pPr indent="-317500" lvl="0" marL="457200" rtl="0" algn="l">
              <a:lnSpc>
                <a:spcPct val="120000"/>
              </a:lnSpc>
              <a:spcBef>
                <a:spcPts val="1800"/>
              </a:spcBef>
              <a:spcAft>
                <a:spcPts val="0"/>
              </a:spcAft>
              <a:buClr>
                <a:srgbClr val="1A1A1A"/>
              </a:buClr>
              <a:buSzPts val="1400"/>
              <a:buFont typeface="Times New Roman"/>
              <a:buChar char="●"/>
            </a:pPr>
            <a:r>
              <a:rPr i="1" lang="en" sz="1400">
                <a:solidFill>
                  <a:srgbClr val="1A1A1A"/>
                </a:solidFill>
                <a:latin typeface="Times New Roman"/>
                <a:ea typeface="Times New Roman"/>
                <a:cs typeface="Times New Roman"/>
                <a:sym typeface="Times New Roman"/>
              </a:rPr>
              <a:t>Environmental policies</a:t>
            </a:r>
            <a:r>
              <a:rPr lang="en" sz="1400">
                <a:solidFill>
                  <a:srgbClr val="1A1A1A"/>
                </a:solidFill>
                <a:latin typeface="Times New Roman"/>
                <a:ea typeface="Times New Roman"/>
                <a:cs typeface="Times New Roman"/>
                <a:sym typeface="Times New Roman"/>
              </a:rPr>
              <a:t>: In order to be on the safe side against potential disasters it may be legitimate to take preventive measures when there is valid but yet insufficient evidence of an environmental hazard. This must be distinguished from taking measures against an alleged hazard for which there is no valid evidence at all. Therefore, decision-makers in environmental policy must be able to distinguish between scientific and pseudoscientific claims.</a:t>
            </a:r>
            <a:endParaRPr sz="1400">
              <a:solidFill>
                <a:srgbClr val="1A1A1A"/>
              </a:solidFill>
              <a:latin typeface="Times New Roman"/>
              <a:ea typeface="Times New Roman"/>
              <a:cs typeface="Times New Roman"/>
              <a:sym typeface="Times New Roman"/>
            </a:endParaRPr>
          </a:p>
          <a:p>
            <a:pPr indent="0" lvl="0" marL="0" rtl="0" algn="l">
              <a:spcBef>
                <a:spcPts val="1800"/>
              </a:spcBef>
              <a:spcAft>
                <a:spcPts val="16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311700" y="1649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Kuhn’s stance</a:t>
            </a:r>
            <a:endParaRPr/>
          </a:p>
        </p:txBody>
      </p:sp>
      <p:sp>
        <p:nvSpPr>
          <p:cNvPr id="95" name="Google Shape;95;p19"/>
          <p:cNvSpPr txBox="1"/>
          <p:nvPr>
            <p:ph idx="1" type="body"/>
          </p:nvPr>
        </p:nvSpPr>
        <p:spPr>
          <a:xfrm>
            <a:off x="311700" y="818025"/>
            <a:ext cx="8520600" cy="3750900"/>
          </a:xfrm>
          <a:prstGeom prst="rect">
            <a:avLst/>
          </a:prstGeom>
        </p:spPr>
        <p:txBody>
          <a:bodyPr anchorCtr="0" anchor="t" bIns="91425" lIns="91425" spcFirstLastPara="1" rIns="91425" wrap="square" tIns="91425">
            <a:noAutofit/>
          </a:bodyPr>
          <a:lstStyle/>
          <a:p>
            <a:pPr indent="0" lvl="0" marL="0" rtl="0" algn="l">
              <a:spcBef>
                <a:spcPts val="500"/>
              </a:spcBef>
              <a:spcAft>
                <a:spcPts val="0"/>
              </a:spcAft>
              <a:buClr>
                <a:schemeClr val="dk1"/>
              </a:buClr>
              <a:buSzPts val="1100"/>
              <a:buFont typeface="Arial"/>
              <a:buNone/>
            </a:pPr>
            <a:r>
              <a:rPr lang="en" sz="1400">
                <a:solidFill>
                  <a:srgbClr val="222222"/>
                </a:solidFill>
              </a:rPr>
              <a:t>Finally, and this is for now my main point, a careful look at the scientific enterprise suggests that it is normal science, in which </a:t>
            </a:r>
            <a:r>
              <a:rPr lang="en" sz="1400">
                <a:solidFill>
                  <a:srgbClr val="0B0080"/>
                </a:solidFill>
                <a:uFill>
                  <a:noFill/>
                </a:uFill>
                <a:hlinkClick r:id="rId3"/>
              </a:rPr>
              <a:t>Sir Karl</a:t>
            </a:r>
            <a:r>
              <a:rPr lang="en" sz="1400">
                <a:solidFill>
                  <a:srgbClr val="222222"/>
                </a:solidFill>
              </a:rPr>
              <a:t>’s sort of testing does not occur, rather than extraordinary science which most nearly distinguishes science from other enterprises. If a demarcation criterion exists (we must not, I think, seek a sharp or decisive one), it may lie just in that part of science which Sir Karl ignores.</a:t>
            </a:r>
            <a:endParaRPr sz="1400">
              <a:solidFill>
                <a:srgbClr val="222222"/>
              </a:solidFill>
            </a:endParaRPr>
          </a:p>
          <a:p>
            <a:pPr indent="0" lvl="0" marL="228600" rtl="0" algn="l">
              <a:lnSpc>
                <a:spcPct val="150000"/>
              </a:lnSpc>
              <a:spcBef>
                <a:spcPts val="500"/>
              </a:spcBef>
              <a:spcAft>
                <a:spcPts val="0"/>
              </a:spcAft>
              <a:buNone/>
            </a:pPr>
            <a:r>
              <a:rPr lang="en" sz="1400">
                <a:solidFill>
                  <a:srgbClr val="222222"/>
                </a:solidFill>
              </a:rPr>
              <a:t>— </a:t>
            </a:r>
            <a:r>
              <a:rPr lang="en" sz="1400">
                <a:solidFill>
                  <a:srgbClr val="0B0080"/>
                </a:solidFill>
                <a:uFill>
                  <a:noFill/>
                </a:uFill>
                <a:hlinkClick r:id="rId4"/>
              </a:rPr>
              <a:t>Thomas S. Kuhn</a:t>
            </a:r>
            <a:r>
              <a:rPr lang="en" sz="1400">
                <a:solidFill>
                  <a:srgbClr val="222222"/>
                </a:solidFill>
              </a:rPr>
              <a:t>, "Logic of Discovery or Psychology of Research?"</a:t>
            </a:r>
            <a:endParaRPr sz="1400">
              <a:solidFill>
                <a:srgbClr val="222222"/>
              </a:solidFill>
            </a:endParaRPr>
          </a:p>
          <a:p>
            <a:pPr indent="0" lvl="0" marL="0" rtl="0" algn="l">
              <a:lnSpc>
                <a:spcPct val="150000"/>
              </a:lnSpc>
              <a:spcBef>
                <a:spcPts val="0"/>
              </a:spcBef>
              <a:spcAft>
                <a:spcPts val="0"/>
              </a:spcAft>
              <a:buNone/>
            </a:pPr>
            <a:r>
              <a:t/>
            </a:r>
            <a:endParaRPr sz="1400">
              <a:solidFill>
                <a:srgbClr val="222222"/>
              </a:solidFill>
            </a:endParaRPr>
          </a:p>
          <a:p>
            <a:pPr indent="0" lvl="0" marL="0" rtl="0" algn="l">
              <a:lnSpc>
                <a:spcPct val="150000"/>
              </a:lnSpc>
              <a:spcBef>
                <a:spcPts val="0"/>
              </a:spcBef>
              <a:spcAft>
                <a:spcPts val="0"/>
              </a:spcAft>
              <a:buClr>
                <a:schemeClr val="dk1"/>
              </a:buClr>
              <a:buSzPts val="1100"/>
              <a:buFont typeface="Arial"/>
              <a:buNone/>
            </a:pPr>
            <a:r>
              <a:rPr lang="en" sz="1400">
                <a:solidFill>
                  <a:srgbClr val="000000"/>
                </a:solidFill>
                <a:uFill>
                  <a:noFill/>
                </a:uFill>
                <a:hlinkClick r:id="rId5"/>
              </a:rPr>
              <a:t>Thomas Kuhn</a:t>
            </a:r>
            <a:r>
              <a:rPr lang="en" sz="1400">
                <a:solidFill>
                  <a:srgbClr val="000000"/>
                </a:solidFill>
              </a:rPr>
              <a:t> is often connected with what has been called </a:t>
            </a:r>
            <a:r>
              <a:rPr lang="en" sz="1400">
                <a:solidFill>
                  <a:srgbClr val="000000"/>
                </a:solidFill>
                <a:uFill>
                  <a:noFill/>
                </a:uFill>
                <a:hlinkClick r:id="rId6"/>
              </a:rPr>
              <a:t>postpositivism</a:t>
            </a:r>
            <a:r>
              <a:rPr lang="en" sz="1400">
                <a:solidFill>
                  <a:srgbClr val="000000"/>
                </a:solidFill>
              </a:rPr>
              <a:t> or </a:t>
            </a:r>
            <a:r>
              <a:rPr lang="en" sz="1400">
                <a:solidFill>
                  <a:srgbClr val="000000"/>
                </a:solidFill>
                <a:uFill>
                  <a:noFill/>
                </a:uFill>
                <a:hlinkClick r:id="rId7"/>
              </a:rPr>
              <a:t>postempiricism</a:t>
            </a:r>
            <a:r>
              <a:rPr lang="en" sz="1400">
                <a:solidFill>
                  <a:srgbClr val="000000"/>
                </a:solidFill>
              </a:rPr>
              <a:t>. In his 1962 book </a:t>
            </a:r>
            <a:r>
              <a:rPr i="1" lang="en" sz="1400">
                <a:solidFill>
                  <a:srgbClr val="000000"/>
                </a:solidFill>
                <a:uFill>
                  <a:noFill/>
                </a:uFill>
                <a:hlinkClick r:id="rId8"/>
              </a:rPr>
              <a:t>The Structure of Scientific Revolutions</a:t>
            </a:r>
            <a:r>
              <a:rPr lang="en" sz="1400">
                <a:solidFill>
                  <a:srgbClr val="000000"/>
                </a:solidFill>
              </a:rPr>
              <a:t>, Kuhn divided the process of doing science into two different endeavors, which he called </a:t>
            </a:r>
            <a:r>
              <a:rPr lang="en" sz="1400">
                <a:solidFill>
                  <a:srgbClr val="000000"/>
                </a:solidFill>
                <a:uFill>
                  <a:noFill/>
                </a:uFill>
                <a:hlinkClick r:id="rId9"/>
              </a:rPr>
              <a:t>normal science</a:t>
            </a:r>
            <a:r>
              <a:rPr lang="en" sz="1400">
                <a:solidFill>
                  <a:srgbClr val="000000"/>
                </a:solidFill>
              </a:rPr>
              <a:t> and </a:t>
            </a:r>
            <a:r>
              <a:rPr lang="en" sz="1400">
                <a:solidFill>
                  <a:srgbClr val="000000"/>
                </a:solidFill>
                <a:uFill>
                  <a:noFill/>
                </a:uFill>
                <a:hlinkClick r:id="rId10"/>
              </a:rPr>
              <a:t>extraordinary science</a:t>
            </a:r>
            <a:r>
              <a:rPr lang="en" sz="1400">
                <a:solidFill>
                  <a:srgbClr val="000000"/>
                </a:solidFill>
              </a:rPr>
              <a:t> (which he sometimes also called "revolutionary science"). Kuhn thinks "we must not seek a sharp or decisive. The utility of a scientific paradigm for puzzle-solving lies in its suggesting solutions to new problems while continuing to satisfy all of the problems solved by the paradigm that it replaces.</a:t>
            </a:r>
            <a:endParaRPr sz="1400">
              <a:solidFill>
                <a:srgbClr val="000000"/>
              </a:solidFill>
            </a:endParaRPr>
          </a:p>
          <a:p>
            <a:pPr indent="0" lvl="0" marL="0" rtl="0" algn="l">
              <a:spcBef>
                <a:spcPts val="0"/>
              </a:spcBef>
              <a:spcAft>
                <a:spcPts val="1600"/>
              </a:spcAft>
              <a:buNone/>
            </a:pPr>
            <a:r>
              <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99" name="Shape 99"/>
        <p:cNvGrpSpPr/>
        <p:nvPr/>
      </p:nvGrpSpPr>
      <p:grpSpPr>
        <a:xfrm>
          <a:off x="0" y="0"/>
          <a:ext cx="0" cy="0"/>
          <a:chOff x="0" y="0"/>
          <a:chExt cx="0" cy="0"/>
        </a:xfrm>
      </p:grpSpPr>
      <p:sp>
        <p:nvSpPr>
          <p:cNvPr id="100" name="Google Shape;100;p20"/>
          <p:cNvSpPr txBox="1"/>
          <p:nvPr>
            <p:ph idx="1" type="body"/>
          </p:nvPr>
        </p:nvSpPr>
        <p:spPr>
          <a:xfrm>
            <a:off x="311700" y="112050"/>
            <a:ext cx="8520600" cy="484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222222"/>
                </a:solidFill>
              </a:rPr>
              <a:t>Kuhn's view of demarcation is most clearly expressed in his comparison of astronomy with astrology. Since antiquity, astronomy has been a puzzle-solving activity and therefore a science. If an astronomer's prediction failed, then this was a puzzle that he could hope to solve for instance with more measurements or with adjustments of the theory. In contrast, the astrologer had no such puzzles since in that discipline "particular failures did not give rise to research puzzles, for no man, however skilled, could make use of them in a constructive attempt to revise the astrological tradition. Therefore, according to Kuhn, astrology has never been a science.</a:t>
            </a:r>
            <a:endParaRPr>
              <a:solidFill>
                <a:srgbClr val="222222"/>
              </a:solidFill>
            </a:endParaRPr>
          </a:p>
          <a:p>
            <a:pPr indent="0" lvl="0" marL="0" rtl="0" algn="l">
              <a:spcBef>
                <a:spcPts val="1600"/>
              </a:spcBef>
              <a:spcAft>
                <a:spcPts val="1600"/>
              </a:spcAft>
              <a:buNone/>
            </a:pPr>
            <a:r>
              <a:rPr lang="en">
                <a:solidFill>
                  <a:srgbClr val="000000"/>
                </a:solidFill>
              </a:rPr>
              <a:t>While Popper criticized Kuhn's demarcation criterion, saying that astrologers are engaged in puzzle solving, and that therefore Kuhn's criterion recognized astrology as a science. He stated that Kuhn's criterion leads to a "major disaster…[the] replacement of a rational criterion of science by a sociological one"</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concept of a paradigm</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1A1A1A"/>
                </a:solidFill>
                <a:latin typeface="Times New Roman"/>
                <a:ea typeface="Times New Roman"/>
                <a:cs typeface="Times New Roman"/>
                <a:sym typeface="Times New Roman"/>
              </a:rPr>
              <a:t>A particularly important part of Kuhn’s thesis in </a:t>
            </a:r>
            <a:r>
              <a:rPr i="1" lang="en" sz="1400">
                <a:solidFill>
                  <a:srgbClr val="1A1A1A"/>
                </a:solidFill>
                <a:latin typeface="Times New Roman"/>
                <a:ea typeface="Times New Roman"/>
                <a:cs typeface="Times New Roman"/>
                <a:sym typeface="Times New Roman"/>
              </a:rPr>
              <a:t>The Structure of Scientific Revolutions</a:t>
            </a:r>
            <a:r>
              <a:rPr lang="en" sz="1400">
                <a:solidFill>
                  <a:srgbClr val="1A1A1A"/>
                </a:solidFill>
                <a:latin typeface="Times New Roman"/>
                <a:ea typeface="Times New Roman"/>
                <a:cs typeface="Times New Roman"/>
                <a:sym typeface="Times New Roman"/>
              </a:rPr>
              <a:t> focuses upon one specific component of the disciplinary matrix. This is the consensus on exemplary instances of scientific research. These exemplars of good science are what Kuhn refers to when he uses the term ‘paradigm’ in a narrower sense. He cites Aristotle’s analysis of motion, Ptolemy’s computations of planetary positions, Lavoisier’s application of the balance, and Maxwell’s mathematization of the electromagnetic field as paradigms. Exemplary instances of science are typically to be found in books and papers, and so Kuhn often also describes great texts as paradigms—Ptolemy’s </a:t>
            </a:r>
            <a:r>
              <a:rPr i="1" lang="en" sz="1400">
                <a:solidFill>
                  <a:srgbClr val="1A1A1A"/>
                </a:solidFill>
                <a:latin typeface="Times New Roman"/>
                <a:ea typeface="Times New Roman"/>
                <a:cs typeface="Times New Roman"/>
                <a:sym typeface="Times New Roman"/>
              </a:rPr>
              <a:t>Almagest</a:t>
            </a:r>
            <a:r>
              <a:rPr lang="en" sz="1400">
                <a:solidFill>
                  <a:srgbClr val="1A1A1A"/>
                </a:solidFill>
                <a:latin typeface="Times New Roman"/>
                <a:ea typeface="Times New Roman"/>
                <a:cs typeface="Times New Roman"/>
                <a:sym typeface="Times New Roman"/>
              </a:rPr>
              <a:t>, Lavoisier’s </a:t>
            </a:r>
            <a:r>
              <a:rPr i="1" lang="en" sz="1400">
                <a:solidFill>
                  <a:srgbClr val="1A1A1A"/>
                </a:solidFill>
                <a:latin typeface="Times New Roman"/>
                <a:ea typeface="Times New Roman"/>
                <a:cs typeface="Times New Roman"/>
                <a:sym typeface="Times New Roman"/>
              </a:rPr>
              <a:t>Traité élémentaire de chimie</a:t>
            </a:r>
            <a:r>
              <a:rPr lang="en" sz="1400">
                <a:solidFill>
                  <a:srgbClr val="1A1A1A"/>
                </a:solidFill>
                <a:latin typeface="Times New Roman"/>
                <a:ea typeface="Times New Roman"/>
                <a:cs typeface="Times New Roman"/>
                <a:sym typeface="Times New Roman"/>
              </a:rPr>
              <a:t>, and Newton’s </a:t>
            </a:r>
            <a:r>
              <a:rPr i="1" lang="en" sz="1400">
                <a:solidFill>
                  <a:srgbClr val="1A1A1A"/>
                </a:solidFill>
                <a:latin typeface="Times New Roman"/>
                <a:ea typeface="Times New Roman"/>
                <a:cs typeface="Times New Roman"/>
                <a:sym typeface="Times New Roman"/>
              </a:rPr>
              <a:t>Principia Mathematica</a:t>
            </a:r>
            <a:r>
              <a:rPr lang="en" sz="1400">
                <a:solidFill>
                  <a:srgbClr val="1A1A1A"/>
                </a:solidFill>
                <a:latin typeface="Times New Roman"/>
                <a:ea typeface="Times New Roman"/>
                <a:cs typeface="Times New Roman"/>
                <a:sym typeface="Times New Roman"/>
              </a:rPr>
              <a:t> and </a:t>
            </a:r>
            <a:r>
              <a:rPr i="1" lang="en" sz="1400">
                <a:solidFill>
                  <a:srgbClr val="1A1A1A"/>
                </a:solidFill>
                <a:latin typeface="Times New Roman"/>
                <a:ea typeface="Times New Roman"/>
                <a:cs typeface="Times New Roman"/>
                <a:sym typeface="Times New Roman"/>
              </a:rPr>
              <a:t>Opticks</a:t>
            </a:r>
            <a:r>
              <a:rPr lang="en" sz="1400">
                <a:solidFill>
                  <a:srgbClr val="1A1A1A"/>
                </a:solidFill>
                <a:latin typeface="Times New Roman"/>
                <a:ea typeface="Times New Roman"/>
                <a:cs typeface="Times New Roman"/>
                <a:sym typeface="Times New Roman"/>
              </a:rPr>
              <a:t>. Such texts contain not only the key theories and laws, but also—and this is what makes them paradigms—the applications of those theories in the solution of important problems, along with the new experimental or mathematical techniques (such as the chemical balance in </a:t>
            </a:r>
            <a:r>
              <a:rPr i="1" lang="en" sz="1400">
                <a:solidFill>
                  <a:srgbClr val="1A1A1A"/>
                </a:solidFill>
                <a:latin typeface="Times New Roman"/>
                <a:ea typeface="Times New Roman"/>
                <a:cs typeface="Times New Roman"/>
                <a:sym typeface="Times New Roman"/>
              </a:rPr>
              <a:t>Traité élémentaire de chimie</a:t>
            </a:r>
            <a:r>
              <a:rPr lang="en" sz="1400">
                <a:solidFill>
                  <a:srgbClr val="1A1A1A"/>
                </a:solidFill>
                <a:latin typeface="Times New Roman"/>
                <a:ea typeface="Times New Roman"/>
                <a:cs typeface="Times New Roman"/>
                <a:sym typeface="Times New Roman"/>
              </a:rPr>
              <a:t> and the calculus in </a:t>
            </a:r>
            <a:r>
              <a:rPr i="1" lang="en" sz="1400">
                <a:solidFill>
                  <a:srgbClr val="1A1A1A"/>
                </a:solidFill>
                <a:latin typeface="Times New Roman"/>
                <a:ea typeface="Times New Roman"/>
                <a:cs typeface="Times New Roman"/>
                <a:sym typeface="Times New Roman"/>
              </a:rPr>
              <a:t>Principia Mathematica</a:t>
            </a:r>
            <a:r>
              <a:rPr lang="en" sz="1400">
                <a:solidFill>
                  <a:srgbClr val="1A1A1A"/>
                </a:solidFill>
                <a:latin typeface="Times New Roman"/>
                <a:ea typeface="Times New Roman"/>
                <a:cs typeface="Times New Roman"/>
                <a:sym typeface="Times New Roman"/>
              </a:rPr>
              <a:t>) employed in those applications.</a:t>
            </a:r>
            <a:endParaRPr sz="1400">
              <a:solidFill>
                <a:srgbClr val="1A1A1A"/>
              </a:solidFill>
              <a:latin typeface="Times New Roman"/>
              <a:ea typeface="Times New Roman"/>
              <a:cs typeface="Times New Roman"/>
              <a:sym typeface="Times New Roman"/>
            </a:endParaRPr>
          </a:p>
          <a:p>
            <a:pPr indent="0" lvl="0" marL="0" rtl="0" algn="l">
              <a:spcBef>
                <a:spcPts val="1600"/>
              </a:spcBef>
              <a:spcAft>
                <a:spcPts val="1600"/>
              </a:spcAft>
              <a:buNone/>
            </a:pPr>
            <a:r>
              <a:rPr lang="en" sz="1400">
                <a:solidFill>
                  <a:srgbClr val="222222"/>
                </a:solidFill>
              </a:rPr>
              <a:t>In science and philosophy, a paradigm is a distinct set of concepts or thought patterns, including theories, research methods, postulates, and standards for what constitutes legitimate contributions to a field.</a:t>
            </a:r>
            <a:endParaRPr sz="1400">
              <a:solidFill>
                <a:srgbClr val="1A1A1A"/>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110" name="Shape 110"/>
        <p:cNvGrpSpPr/>
        <p:nvPr/>
      </p:nvGrpSpPr>
      <p:grpSpPr>
        <a:xfrm>
          <a:off x="0" y="0"/>
          <a:ext cx="0" cy="0"/>
          <a:chOff x="0" y="0"/>
          <a:chExt cx="0" cy="0"/>
        </a:xfrm>
      </p:grpSpPr>
      <p:sp>
        <p:nvSpPr>
          <p:cNvPr id="111" name="Google Shape;111;p22"/>
          <p:cNvSpPr txBox="1"/>
          <p:nvPr>
            <p:ph idx="1" type="body"/>
          </p:nvPr>
        </p:nvSpPr>
        <p:spPr>
          <a:xfrm>
            <a:off x="311700" y="179300"/>
            <a:ext cx="8520600" cy="4389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222222"/>
                </a:solidFill>
              </a:rPr>
              <a:t>Kuhn acknowledges having used the term "paradigm" in two different meanings. In the first one, "paradigm" designates what the members of a certain scientific community have in common, that is to say, the whole of techniques, patents and values shared by the members of the community. In the second sense, the paradigm is a single element of a whole, say for instance Newton’s Principia, which, acting as a common model or an example... stands for the explicit rules and thus defines a coherent tradition of investigation. Thus the question is for Kuhn to investigate by means of the paradigm what makes possible the constitution of what he calls "normal science". That is to say, the science which can decide if a certain problem will be considered scientific or not. Normal science does not mean at all a science guided by a coherent system of rules, on the contrary, the rules can be derived from the paradigms, but the paradigms can guide the investigation also in the absence of rules. This is precisely the second meaning of the term "paradigm", which Kuhn considered the most new and profound, though it is in truth the oldest.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Paradigm shift</a:t>
            </a:r>
            <a:endParaRPr/>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Ask the audience what they think it could mean?</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FFE599"/>
        </a:solidFill>
      </p:bgPr>
    </p:bg>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139700" marR="139700" rtl="0" algn="l">
              <a:lnSpc>
                <a:spcPct val="170588"/>
              </a:lnSpc>
              <a:spcBef>
                <a:spcPts val="0"/>
              </a:spcBef>
              <a:spcAft>
                <a:spcPts val="0"/>
              </a:spcAft>
              <a:buNone/>
            </a:pPr>
            <a:r>
              <a:rPr lang="en">
                <a:solidFill>
                  <a:srgbClr val="000000"/>
                </a:solidFill>
                <a:latin typeface="Georgia"/>
                <a:ea typeface="Georgia"/>
                <a:cs typeface="Georgia"/>
                <a:sym typeface="Georgia"/>
              </a:rPr>
              <a:t>Accordingly, a </a:t>
            </a:r>
            <a:r>
              <a:rPr lang="en">
                <a:solidFill>
                  <a:srgbClr val="000000"/>
                </a:solidFill>
                <a:uFill>
                  <a:noFill/>
                </a:uFill>
                <a:latin typeface="Georgia"/>
                <a:ea typeface="Georgia"/>
                <a:cs typeface="Georgia"/>
                <a:sym typeface="Georgia"/>
                <a:hlinkClick r:id="rId3"/>
              </a:rPr>
              <a:t>paradigm shift</a:t>
            </a:r>
            <a:r>
              <a:rPr lang="en">
                <a:solidFill>
                  <a:srgbClr val="000000"/>
                </a:solidFill>
                <a:latin typeface="Georgia"/>
                <a:ea typeface="Georgia"/>
                <a:cs typeface="Georgia"/>
                <a:sym typeface="Georgia"/>
              </a:rPr>
              <a:t> is defined as "an important change that happen</a:t>
            </a:r>
            <a:r>
              <a:rPr lang="en">
                <a:solidFill>
                  <a:srgbClr val="000000"/>
                </a:solidFill>
                <a:latin typeface="Georgia"/>
                <a:ea typeface="Georgia"/>
                <a:cs typeface="Georgia"/>
                <a:sym typeface="Georgia"/>
              </a:rPr>
              <a:t>s </a:t>
            </a:r>
            <a:r>
              <a:rPr lang="en">
                <a:solidFill>
                  <a:srgbClr val="000000"/>
                </a:solidFill>
                <a:latin typeface="Georgia"/>
                <a:ea typeface="Georgia"/>
                <a:cs typeface="Georgia"/>
                <a:sym typeface="Georgia"/>
              </a:rPr>
              <a:t>when the usual way of thinking about or doing something is replaced by a new and different way.</a:t>
            </a:r>
            <a:r>
              <a:rPr lang="en" sz="1100">
                <a:solidFill>
                  <a:srgbClr val="333333"/>
                </a:solidFill>
                <a:latin typeface="Georgia"/>
                <a:ea typeface="Georgia"/>
                <a:cs typeface="Georgia"/>
                <a:sym typeface="Georgia"/>
              </a:rPr>
              <a:t>"</a:t>
            </a:r>
            <a:endParaRPr sz="1100">
              <a:solidFill>
                <a:srgbClr val="333333"/>
              </a:solidFill>
              <a:latin typeface="Georgia"/>
              <a:ea typeface="Georgia"/>
              <a:cs typeface="Georgia"/>
              <a:sym typeface="Georgia"/>
            </a:endParaRPr>
          </a:p>
          <a:p>
            <a:pPr indent="0" lvl="0" marL="139700" marR="139700" rtl="0" algn="l">
              <a:lnSpc>
                <a:spcPct val="170588"/>
              </a:lnSpc>
              <a:spcBef>
                <a:spcPts val="2400"/>
              </a:spcBef>
              <a:spcAft>
                <a:spcPts val="0"/>
              </a:spcAft>
              <a:buNone/>
            </a:pPr>
            <a:r>
              <a:rPr lang="en" sz="1400">
                <a:solidFill>
                  <a:srgbClr val="000000"/>
                </a:solidFill>
                <a:latin typeface="Georgia"/>
                <a:ea typeface="Georgia"/>
                <a:cs typeface="Georgia"/>
                <a:sym typeface="Georgia"/>
              </a:rPr>
              <a:t>This shift somehow guides new scientific breakthroughs to be guided by the new paradigms due to this shift.</a:t>
            </a:r>
            <a:endParaRPr sz="1400">
              <a:solidFill>
                <a:srgbClr val="000000"/>
              </a:solidFill>
              <a:latin typeface="Georgia"/>
              <a:ea typeface="Georgia"/>
              <a:cs typeface="Georgia"/>
              <a:sym typeface="Georgia"/>
            </a:endParaRPr>
          </a:p>
          <a:p>
            <a:pPr indent="0" lvl="0" marL="139700" marR="139700" rtl="0" algn="l">
              <a:lnSpc>
                <a:spcPct val="170588"/>
              </a:lnSpc>
              <a:spcBef>
                <a:spcPts val="2400"/>
              </a:spcBef>
              <a:spcAft>
                <a:spcPts val="0"/>
              </a:spcAft>
              <a:buClr>
                <a:schemeClr val="dk1"/>
              </a:buClr>
              <a:buSzPts val="1100"/>
              <a:buFont typeface="Arial"/>
              <a:buNone/>
            </a:pPr>
            <a:r>
              <a:rPr lang="en" sz="1400">
                <a:solidFill>
                  <a:srgbClr val="000000"/>
                </a:solidFill>
                <a:latin typeface="Georgia"/>
                <a:ea typeface="Georgia"/>
                <a:cs typeface="Georgia"/>
                <a:sym typeface="Georgia"/>
              </a:rPr>
              <a:t>Can you think of any examples?</a:t>
            </a:r>
            <a:endParaRPr sz="1400">
              <a:solidFill>
                <a:srgbClr val="000000"/>
              </a:solidFill>
              <a:latin typeface="Georgia"/>
              <a:ea typeface="Georgia"/>
              <a:cs typeface="Georgia"/>
              <a:sym typeface="Georgia"/>
            </a:endParaRPr>
          </a:p>
          <a:p>
            <a:pPr indent="0" lvl="0" marL="0" rtl="0" algn="l">
              <a:spcBef>
                <a:spcPts val="24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lin ang="5400012" scaled="0"/>
        </a:gradFill>
      </p:bgPr>
    </p:bg>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67225"/>
            <a:ext cx="8520600" cy="183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there such a thing as a scientific method?</a:t>
            </a:r>
            <a:endParaRPr/>
          </a:p>
          <a:p>
            <a:pPr indent="0" lvl="0" marL="0" rtl="0" algn="l">
              <a:spcBef>
                <a:spcPts val="0"/>
              </a:spcBef>
              <a:spcAft>
                <a:spcPts val="0"/>
              </a:spcAft>
              <a:buNone/>
            </a:pPr>
            <a:r>
              <a:rPr lang="en"/>
              <a:t>What do Scientists actually do?</a:t>
            </a:r>
            <a:endParaRPr/>
          </a:p>
          <a:p>
            <a:pPr indent="0" lvl="0" marL="0" rtl="0" algn="l">
              <a:spcBef>
                <a:spcPts val="0"/>
              </a:spcBef>
              <a:spcAft>
                <a:spcPts val="0"/>
              </a:spcAft>
              <a:buNone/>
            </a:pPr>
            <a:r>
              <a:rPr lang="en"/>
              <a:t>How is scientific knowledge different from other forms of knowledge?</a:t>
            </a:r>
            <a:endParaRPr/>
          </a:p>
          <a:p>
            <a:pPr indent="0" lvl="0" marL="0" rtl="0" algn="l">
              <a:spcBef>
                <a:spcPts val="0"/>
              </a:spcBef>
              <a:spcAft>
                <a:spcPts val="0"/>
              </a:spcAft>
              <a:buNone/>
            </a:pPr>
            <a:r>
              <a:t/>
            </a:r>
            <a:endParaRPr/>
          </a:p>
        </p:txBody>
      </p:sp>
      <p:sp>
        <p:nvSpPr>
          <p:cNvPr id="128" name="Google Shape;128;p25"/>
          <p:cNvSpPr txBox="1"/>
          <p:nvPr>
            <p:ph idx="1" type="body"/>
          </p:nvPr>
        </p:nvSpPr>
        <p:spPr>
          <a:xfrm>
            <a:off x="311700" y="5502100"/>
            <a:ext cx="8520600" cy="227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29" name="Google Shape;129;p25"/>
          <p:cNvPicPr preferRelativeResize="0"/>
          <p:nvPr/>
        </p:nvPicPr>
        <p:blipFill>
          <a:blip r:embed="rId3">
            <a:alphaModFix/>
          </a:blip>
          <a:stretch>
            <a:fillRect/>
          </a:stretch>
        </p:blipFill>
        <p:spPr>
          <a:xfrm>
            <a:off x="152400" y="1905025"/>
            <a:ext cx="8679901" cy="3196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FFF6DB"/>
            </a:gs>
            <a:gs pos="100000">
              <a:srgbClr val="FAD25C"/>
            </a:gs>
          </a:gsLst>
          <a:path path="circle">
            <a:fillToRect b="50%" l="50%" r="50%" t="50%"/>
          </a:path>
          <a:tileRect/>
        </a:gradFill>
      </p:bgPr>
    </p:bg>
    <p:spTree>
      <p:nvGrpSpPr>
        <p:cNvPr id="133" name="Shape 133"/>
        <p:cNvGrpSpPr/>
        <p:nvPr/>
      </p:nvGrpSpPr>
      <p:grpSpPr>
        <a:xfrm>
          <a:off x="0" y="0"/>
          <a:ext cx="0" cy="0"/>
          <a:chOff x="0" y="0"/>
          <a:chExt cx="0" cy="0"/>
        </a:xfrm>
      </p:grpSpPr>
      <p:pic>
        <p:nvPicPr>
          <p:cNvPr id="134" name="Google Shape;134;p26"/>
          <p:cNvPicPr preferRelativeResize="0"/>
          <p:nvPr/>
        </p:nvPicPr>
        <p:blipFill>
          <a:blip r:embed="rId3">
            <a:alphaModFix/>
          </a:blip>
          <a:stretch>
            <a:fillRect/>
          </a:stretch>
        </p:blipFill>
        <p:spPr>
          <a:xfrm>
            <a:off x="242050" y="1239375"/>
            <a:ext cx="8839201" cy="3528861"/>
          </a:xfrm>
          <a:prstGeom prst="rect">
            <a:avLst/>
          </a:prstGeom>
          <a:noFill/>
          <a:ln>
            <a:noFill/>
          </a:ln>
        </p:spPr>
      </p:pic>
      <p:sp>
        <p:nvSpPr>
          <p:cNvPr id="135" name="Google Shape;135;p26"/>
          <p:cNvSpPr txBox="1"/>
          <p:nvPr/>
        </p:nvSpPr>
        <p:spPr>
          <a:xfrm>
            <a:off x="2958350" y="201725"/>
            <a:ext cx="6264000" cy="7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0"/>
              <a:t>Conclusion?</a:t>
            </a:r>
            <a:endParaRPr sz="4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